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0" r:id="rId6"/>
    <p:sldId id="261" r:id="rId7"/>
    <p:sldId id="264" r:id="rId8"/>
    <p:sldId id="274" r:id="rId9"/>
    <p:sldId id="275" r:id="rId10"/>
    <p:sldId id="267" r:id="rId11"/>
    <p:sldId id="259" r:id="rId12"/>
    <p:sldId id="269" r:id="rId13"/>
    <p:sldId id="270" r:id="rId14"/>
    <p:sldId id="271"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8" autoAdjust="0"/>
    <p:restoredTop sz="94660"/>
  </p:normalViewPr>
  <p:slideViewPr>
    <p:cSldViewPr snapToGrid="0">
      <p:cViewPr varScale="1">
        <p:scale>
          <a:sx n="58" d="100"/>
          <a:sy n="58" d="100"/>
        </p:scale>
        <p:origin x="63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792EF-FFBB-EF21-D6F9-40D9463843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8790EC-4FAE-832C-5489-DCD792A5D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D114F4-728D-3170-BEE8-BD8C62922803}"/>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5" name="Footer Placeholder 4">
            <a:extLst>
              <a:ext uri="{FF2B5EF4-FFF2-40B4-BE49-F238E27FC236}">
                <a16:creationId xmlns:a16="http://schemas.microsoft.com/office/drawing/2014/main" id="{68CF7DE6-828F-4B8A-F100-6E647D41A1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A5DA0-B907-D5B0-F3F3-D79BAD656F71}"/>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700069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34053-821F-18DB-BF19-4FD370DE02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53ADD7-7648-5EFA-F5B1-C4D547460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A6F1D-AB92-2B00-1351-9CBA3AB41BFC}"/>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5" name="Footer Placeholder 4">
            <a:extLst>
              <a:ext uri="{FF2B5EF4-FFF2-40B4-BE49-F238E27FC236}">
                <a16:creationId xmlns:a16="http://schemas.microsoft.com/office/drawing/2014/main" id="{BD25ED3A-8E81-86A0-8B06-351C0DA88F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C5BC6-798E-E390-9ACC-748757C41B5C}"/>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1383190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99D-F25F-3EC7-F2A2-29AEC26F30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73C1E5-AB9D-628A-4D91-B026F4290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C1B32C-7FE9-934F-882C-6D952DC96E02}"/>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5" name="Footer Placeholder 4">
            <a:extLst>
              <a:ext uri="{FF2B5EF4-FFF2-40B4-BE49-F238E27FC236}">
                <a16:creationId xmlns:a16="http://schemas.microsoft.com/office/drawing/2014/main" id="{E813004C-85C4-5B06-0FB5-5E2F90500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78A4E8-4D0B-FFFA-0A8C-CCF6D660397F}"/>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3225177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DFBED-16EB-6783-3BB3-F1D66A099B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429DC0-6DD3-0D99-700F-8EFB02C934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8FD29-6146-8CC4-8994-B743DE5A78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668BD1-3DE8-AD8A-D93A-D50C209342E1}"/>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6" name="Footer Placeholder 5">
            <a:extLst>
              <a:ext uri="{FF2B5EF4-FFF2-40B4-BE49-F238E27FC236}">
                <a16:creationId xmlns:a16="http://schemas.microsoft.com/office/drawing/2014/main" id="{2DE0D885-544A-943F-8155-278838FB1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F6FB9-412B-3322-886D-9FFF601BF8C1}"/>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2602572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E657D-DE4C-8AC0-A0B6-279E76B455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D9593A-5D0D-2FCB-AA76-0ECF31CDC1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40A243-F0C2-9186-E5BE-458E022909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C91949-2FBA-8E02-A49A-D8623E145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0A0E6-B376-559A-ED58-BDD6549919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25DC10-34C3-3758-B099-54C62DCF9C98}"/>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8" name="Footer Placeholder 7">
            <a:extLst>
              <a:ext uri="{FF2B5EF4-FFF2-40B4-BE49-F238E27FC236}">
                <a16:creationId xmlns:a16="http://schemas.microsoft.com/office/drawing/2014/main" id="{A1BBB0A5-413D-E970-98CF-776E8779B0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5ED199-EBF6-F8D9-755D-2701DC7840F2}"/>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2814027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03BBE-7BB6-7751-598D-CC7FE65F0B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CE4966-8AB6-1387-B532-AA47E035ABA4}"/>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4" name="Footer Placeholder 3">
            <a:extLst>
              <a:ext uri="{FF2B5EF4-FFF2-40B4-BE49-F238E27FC236}">
                <a16:creationId xmlns:a16="http://schemas.microsoft.com/office/drawing/2014/main" id="{CD55AC05-8702-4BE5-CB67-41F31E22E3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735031-7E8C-5564-EA8D-205A5F7B6048}"/>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38263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ABCCA-7E80-BABE-FBF1-7E28DA0D99D0}"/>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3" name="Footer Placeholder 2">
            <a:extLst>
              <a:ext uri="{FF2B5EF4-FFF2-40B4-BE49-F238E27FC236}">
                <a16:creationId xmlns:a16="http://schemas.microsoft.com/office/drawing/2014/main" id="{4EC27D7F-0E1F-6625-7611-7A22DE8FFD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843A3-3D65-1767-E578-EC4A41288D44}"/>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3090871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37BDC-54BD-E7F9-9704-2C212289C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80AEFE-067F-CE9F-8BEF-8FFC097042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EA2F9A-19D4-ED8A-BFC3-2031A9FE95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8BE998-3E14-55D1-03B8-FDB96FC736F6}"/>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6" name="Footer Placeholder 5">
            <a:extLst>
              <a:ext uri="{FF2B5EF4-FFF2-40B4-BE49-F238E27FC236}">
                <a16:creationId xmlns:a16="http://schemas.microsoft.com/office/drawing/2014/main" id="{B5020228-B251-C8D9-CA1A-6EF034618A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F72374-C2B3-B478-75E8-2162245195CD}"/>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2459664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0E7B-A1D1-B72A-8025-0920ED098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045F4D-43CB-3779-0AFD-9FCB28FE7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E9E22E-D6BB-507D-79D2-10D2225554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224B1-7CB4-3E0B-3557-62EF2E3C3476}"/>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6" name="Footer Placeholder 5">
            <a:extLst>
              <a:ext uri="{FF2B5EF4-FFF2-40B4-BE49-F238E27FC236}">
                <a16:creationId xmlns:a16="http://schemas.microsoft.com/office/drawing/2014/main" id="{A5A70E08-C37C-A07A-5522-B2612E6C48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C4660A-5BD0-B68D-6880-B6BDEB47C6A6}"/>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470211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0916C-83F5-2E76-E487-19B09381CF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A62ED9-D4D0-0660-8D12-9FCA34E6DB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BD11E-175F-3858-3E79-3FE5DD3B6402}"/>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5" name="Footer Placeholder 4">
            <a:extLst>
              <a:ext uri="{FF2B5EF4-FFF2-40B4-BE49-F238E27FC236}">
                <a16:creationId xmlns:a16="http://schemas.microsoft.com/office/drawing/2014/main" id="{29A7D59E-B997-1819-6BBA-1A086F812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6B521B-53E8-759A-D10D-74F6F71B5E9D}"/>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2794570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66EBF1-42AE-ED2B-A2E2-14205281C4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59464F-749C-836E-C0E1-B42EFD5F49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3A9016-EF62-9974-BCBE-982CAB59181A}"/>
              </a:ext>
            </a:extLst>
          </p:cNvPr>
          <p:cNvSpPr>
            <a:spLocks noGrp="1"/>
          </p:cNvSpPr>
          <p:nvPr>
            <p:ph type="dt" sz="half" idx="10"/>
          </p:nvPr>
        </p:nvSpPr>
        <p:spPr/>
        <p:txBody>
          <a:bodyPr/>
          <a:lstStyle/>
          <a:p>
            <a:fld id="{B53729FD-16D4-4A51-9309-B656248D5694}" type="datetimeFigureOut">
              <a:rPr lang="en-US" smtClean="0"/>
              <a:t>10/16/2025</a:t>
            </a:fld>
            <a:endParaRPr lang="en-US"/>
          </a:p>
        </p:txBody>
      </p:sp>
      <p:sp>
        <p:nvSpPr>
          <p:cNvPr id="5" name="Footer Placeholder 4">
            <a:extLst>
              <a:ext uri="{FF2B5EF4-FFF2-40B4-BE49-F238E27FC236}">
                <a16:creationId xmlns:a16="http://schemas.microsoft.com/office/drawing/2014/main" id="{A614B669-F715-9BBD-9DF7-CC9ADA9F4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60C262-E2D3-E510-DCAE-4F056147F0BB}"/>
              </a:ext>
            </a:extLst>
          </p:cNvPr>
          <p:cNvSpPr>
            <a:spLocks noGrp="1"/>
          </p:cNvSpPr>
          <p:nvPr>
            <p:ph type="sldNum" sz="quarter" idx="12"/>
          </p:nvPr>
        </p:nvSpPr>
        <p:spPr/>
        <p:txBody>
          <a:bodyPr/>
          <a:lstStyle/>
          <a:p>
            <a:fld id="{8676C811-9FE2-4454-8AEF-FC011C6A6B87}" type="slidenum">
              <a:rPr lang="en-US" smtClean="0"/>
              <a:t>‹#›</a:t>
            </a:fld>
            <a:endParaRPr lang="en-US"/>
          </a:p>
        </p:txBody>
      </p:sp>
    </p:spTree>
    <p:extLst>
      <p:ext uri="{BB962C8B-B14F-4D97-AF65-F5344CB8AC3E}">
        <p14:creationId xmlns:p14="http://schemas.microsoft.com/office/powerpoint/2010/main" val="2749097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DB40A8-7736-F1B9-CC57-B354492996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DD6AE9-8ADC-BE86-3D78-847D1BC892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67B35-91A7-DD8E-ADD5-5EA0B0D277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3729FD-16D4-4A51-9309-B656248D5694}" type="datetimeFigureOut">
              <a:rPr lang="en-US" smtClean="0"/>
              <a:t>10/16/2025</a:t>
            </a:fld>
            <a:endParaRPr lang="en-US"/>
          </a:p>
        </p:txBody>
      </p:sp>
      <p:sp>
        <p:nvSpPr>
          <p:cNvPr id="5" name="Footer Placeholder 4">
            <a:extLst>
              <a:ext uri="{FF2B5EF4-FFF2-40B4-BE49-F238E27FC236}">
                <a16:creationId xmlns:a16="http://schemas.microsoft.com/office/drawing/2014/main" id="{95E45CA9-05AE-9A01-2F48-AA5BE377C7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EBF677-70B5-D339-E860-8EBA7F3508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76C811-9FE2-4454-8AEF-FC011C6A6B87}" type="slidenum">
              <a:rPr lang="en-US" smtClean="0"/>
              <a:t>‹#›</a:t>
            </a:fld>
            <a:endParaRPr lang="en-US"/>
          </a:p>
        </p:txBody>
      </p:sp>
    </p:spTree>
    <p:extLst>
      <p:ext uri="{BB962C8B-B14F-4D97-AF65-F5344CB8AC3E}">
        <p14:creationId xmlns:p14="http://schemas.microsoft.com/office/powerpoint/2010/main" val="2438719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A411B-B3CE-FFEE-C7A4-CD662C5FF201}"/>
              </a:ext>
            </a:extLst>
          </p:cNvPr>
          <p:cNvSpPr>
            <a:spLocks noGrp="1"/>
          </p:cNvSpPr>
          <p:nvPr>
            <p:ph type="ctrTitle"/>
          </p:nvPr>
        </p:nvSpPr>
        <p:spPr/>
        <p:txBody>
          <a:bodyPr/>
          <a:lstStyle/>
          <a:p>
            <a:r>
              <a:rPr lang="en-US" dirty="0"/>
              <a:t>PS 6 Matching Models</a:t>
            </a:r>
          </a:p>
        </p:txBody>
      </p:sp>
      <p:sp>
        <p:nvSpPr>
          <p:cNvPr id="3" name="Subtitle 2">
            <a:extLst>
              <a:ext uri="{FF2B5EF4-FFF2-40B4-BE49-F238E27FC236}">
                <a16:creationId xmlns:a16="http://schemas.microsoft.com/office/drawing/2014/main" id="{DE6084C4-E6F1-E14A-0D0C-82085C95FDC8}"/>
              </a:ext>
            </a:extLst>
          </p:cNvPr>
          <p:cNvSpPr>
            <a:spLocks noGrp="1"/>
          </p:cNvSpPr>
          <p:nvPr>
            <p:ph type="subTitle" idx="1"/>
          </p:nvPr>
        </p:nvSpPr>
        <p:spPr/>
        <p:txBody>
          <a:bodyPr/>
          <a:lstStyle/>
          <a:p>
            <a:r>
              <a:rPr lang="en-US" dirty="0"/>
              <a:t>Ayse, Prachi, Yunus &amp; David</a:t>
            </a:r>
          </a:p>
        </p:txBody>
      </p:sp>
    </p:spTree>
    <p:extLst>
      <p:ext uri="{BB962C8B-B14F-4D97-AF65-F5344CB8AC3E}">
        <p14:creationId xmlns:p14="http://schemas.microsoft.com/office/powerpoint/2010/main" val="276475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EC3A-DFE4-7C9A-8CD4-0415FF47299B}"/>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26EE7AF5-A316-4B0A-C4B7-238C2D9B1290}"/>
              </a:ext>
            </a:extLst>
          </p:cNvPr>
          <p:cNvSpPr>
            <a:spLocks noGrp="1"/>
          </p:cNvSpPr>
          <p:nvPr>
            <p:ph idx="1"/>
          </p:nvPr>
        </p:nvSpPr>
        <p:spPr/>
        <p:txBody>
          <a:bodyPr>
            <a:normAutofit fontScale="92500"/>
          </a:bodyPr>
          <a:lstStyle/>
          <a:p>
            <a:r>
              <a:rPr lang="en-US" dirty="0"/>
              <a:t>Kaggle is an online platform for data science competitions.</a:t>
            </a:r>
          </a:p>
          <a:p>
            <a:r>
              <a:rPr lang="en-US" dirty="0"/>
              <a:t>Hosts high-payout contests and awards Kaggle Points, which often serve as professional credentials or portfolio highlights.</a:t>
            </a:r>
          </a:p>
          <a:p>
            <a:r>
              <a:rPr lang="en-US" dirty="0"/>
              <a:t>Features a diverse user base, ranging from beginners to expert data scientists.</a:t>
            </a:r>
          </a:p>
          <a:p>
            <a:r>
              <a:rPr lang="en-US" dirty="0"/>
              <a:t>Our approach follows the revealed-preference matching literature:</a:t>
            </a:r>
          </a:p>
          <a:p>
            <a:pPr lvl="1"/>
            <a:r>
              <a:rPr lang="en-US" dirty="0"/>
              <a:t>Hitsch, </a:t>
            </a:r>
            <a:r>
              <a:rPr lang="en-US" dirty="0" err="1"/>
              <a:t>Hortaçsu</a:t>
            </a:r>
            <a:r>
              <a:rPr lang="en-US" dirty="0"/>
              <a:t>, and Ariely (2010) — Review of Economic Studies</a:t>
            </a:r>
          </a:p>
          <a:p>
            <a:pPr lvl="1"/>
            <a:r>
              <a:rPr lang="en-US" dirty="0" err="1"/>
              <a:t>Akkus</a:t>
            </a:r>
            <a:r>
              <a:rPr lang="en-US" dirty="0"/>
              <a:t>, Cookson, and </a:t>
            </a:r>
            <a:r>
              <a:rPr lang="en-US" dirty="0" err="1"/>
              <a:t>Hortaçsu</a:t>
            </a:r>
            <a:r>
              <a:rPr lang="en-US" dirty="0"/>
              <a:t> (2016) — Management Science</a:t>
            </a:r>
          </a:p>
          <a:p>
            <a:pPr lvl="1"/>
            <a:r>
              <a:rPr lang="en-US" dirty="0"/>
              <a:t>Chan, Chen, and Wu (2023) — Journal of Political Economy Microeconomics</a:t>
            </a:r>
          </a:p>
          <a:p>
            <a:pPr lvl="1"/>
            <a:r>
              <a:rPr lang="en-US" dirty="0"/>
              <a:t>Lemus and Marshall (forthcoming) — Review of Economics and Statistics</a:t>
            </a:r>
          </a:p>
        </p:txBody>
      </p:sp>
    </p:spTree>
    <p:extLst>
      <p:ext uri="{BB962C8B-B14F-4D97-AF65-F5344CB8AC3E}">
        <p14:creationId xmlns:p14="http://schemas.microsoft.com/office/powerpoint/2010/main" val="3098291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F693F-0D58-B8FB-D858-267EAFF7F06D}"/>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C884585E-1B61-7342-F082-DDCB48937990}"/>
              </a:ext>
            </a:extLst>
          </p:cNvPr>
          <p:cNvSpPr>
            <a:spLocks noGrp="1"/>
          </p:cNvSpPr>
          <p:nvPr>
            <p:ph idx="1"/>
          </p:nvPr>
        </p:nvSpPr>
        <p:spPr/>
        <p:txBody>
          <a:bodyPr>
            <a:normAutofit/>
          </a:bodyPr>
          <a:lstStyle/>
          <a:p>
            <a:r>
              <a:rPr lang="en-US" dirty="0"/>
              <a:t>We utilized the Teams, </a:t>
            </a:r>
            <a:r>
              <a:rPr lang="en-US" dirty="0" err="1"/>
              <a:t>TeamMemberships</a:t>
            </a:r>
            <a:r>
              <a:rPr lang="en-US" dirty="0"/>
              <a:t>, Users, </a:t>
            </a:r>
            <a:r>
              <a:rPr lang="en-US" dirty="0" err="1"/>
              <a:t>UserOrganizations</a:t>
            </a:r>
            <a:r>
              <a:rPr lang="en-US" dirty="0"/>
              <a:t>, and </a:t>
            </a:r>
            <a:r>
              <a:rPr lang="en-US" dirty="0" err="1"/>
              <a:t>UserAchievements</a:t>
            </a:r>
            <a:r>
              <a:rPr lang="en-US" dirty="0"/>
              <a:t> tables to analyze team formation</a:t>
            </a:r>
          </a:p>
          <a:p>
            <a:r>
              <a:rPr lang="en-US" dirty="0"/>
              <a:t>User attributes include country, organization, and experience score (derived from points and ranking).</a:t>
            </a:r>
          </a:p>
          <a:p>
            <a:r>
              <a:rPr lang="en-US" dirty="0"/>
              <a:t>Across roughly 26 million Kaggle participants.  8.3 million instances of joined teams (actual participation).  Of these 3.2 million were unique users.</a:t>
            </a:r>
          </a:p>
        </p:txBody>
      </p:sp>
    </p:spTree>
    <p:extLst>
      <p:ext uri="{BB962C8B-B14F-4D97-AF65-F5344CB8AC3E}">
        <p14:creationId xmlns:p14="http://schemas.microsoft.com/office/powerpoint/2010/main" val="520470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0C77-2010-130C-599D-54E6335520C3}"/>
              </a:ext>
            </a:extLst>
          </p:cNvPr>
          <p:cNvSpPr>
            <a:spLocks noGrp="1"/>
          </p:cNvSpPr>
          <p:nvPr>
            <p:ph type="title"/>
          </p:nvPr>
        </p:nvSpPr>
        <p:spPr/>
        <p:txBody>
          <a:bodyPr/>
          <a:lstStyle/>
          <a:p>
            <a:r>
              <a:rPr lang="en-US" dirty="0"/>
              <a:t>Descriptive Statistics</a:t>
            </a:r>
          </a:p>
        </p:txBody>
      </p:sp>
      <p:pic>
        <p:nvPicPr>
          <p:cNvPr id="5" name="Content Placeholder 4" descr="A table with numbers and a black text&#10;&#10;AI-generated content may be incorrect.">
            <a:extLst>
              <a:ext uri="{FF2B5EF4-FFF2-40B4-BE49-F238E27FC236}">
                <a16:creationId xmlns:a16="http://schemas.microsoft.com/office/drawing/2014/main" id="{6022090D-5DF7-834B-492C-9DCA80BECB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376" y="2075699"/>
            <a:ext cx="10841248" cy="3403316"/>
          </a:xfrm>
        </p:spPr>
      </p:pic>
    </p:spTree>
    <p:extLst>
      <p:ext uri="{BB962C8B-B14F-4D97-AF65-F5344CB8AC3E}">
        <p14:creationId xmlns:p14="http://schemas.microsoft.com/office/powerpoint/2010/main" val="3178831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43E77-2FD9-B3DB-4D12-FA56C8712095}"/>
              </a:ext>
            </a:extLst>
          </p:cNvPr>
          <p:cNvSpPr>
            <a:spLocks noGrp="1"/>
          </p:cNvSpPr>
          <p:nvPr>
            <p:ph type="title"/>
          </p:nvPr>
        </p:nvSpPr>
        <p:spPr/>
        <p:txBody>
          <a:bodyPr/>
          <a:lstStyle/>
          <a:p>
            <a:r>
              <a:rPr lang="en-US" dirty="0"/>
              <a:t>Summary Statistics for Points &amp; Highest Ranking</a:t>
            </a:r>
          </a:p>
        </p:txBody>
      </p:sp>
      <p:pic>
        <p:nvPicPr>
          <p:cNvPr id="19" name="Content Placeholder 18" descr="A graph of a distribution of points&#10;&#10;AI-generated content may be incorrect.">
            <a:extLst>
              <a:ext uri="{FF2B5EF4-FFF2-40B4-BE49-F238E27FC236}">
                <a16:creationId xmlns:a16="http://schemas.microsoft.com/office/drawing/2014/main" id="{C9AAA922-118A-3E70-10D9-1F75B2882E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471" y="2006344"/>
            <a:ext cx="4610759" cy="3458069"/>
          </a:xfrm>
        </p:spPr>
      </p:pic>
      <p:pic>
        <p:nvPicPr>
          <p:cNvPr id="21" name="Picture 20" descr="A blue and orange rectangular bar graph&#10;&#10;AI-generated content may be incorrect.">
            <a:extLst>
              <a:ext uri="{FF2B5EF4-FFF2-40B4-BE49-F238E27FC236}">
                <a16:creationId xmlns:a16="http://schemas.microsoft.com/office/drawing/2014/main" id="{5462FDD7-523C-75E3-7325-6CA7DE011F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0230" y="1913641"/>
            <a:ext cx="5268004" cy="4025246"/>
          </a:xfrm>
          <a:prstGeom prst="rect">
            <a:avLst/>
          </a:prstGeom>
        </p:spPr>
      </p:pic>
    </p:spTree>
    <p:extLst>
      <p:ext uri="{BB962C8B-B14F-4D97-AF65-F5344CB8AC3E}">
        <p14:creationId xmlns:p14="http://schemas.microsoft.com/office/powerpoint/2010/main" val="1342324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9E152-EDD9-DBE6-03FA-69A4E82B800D}"/>
              </a:ext>
            </a:extLst>
          </p:cNvPr>
          <p:cNvSpPr>
            <a:spLocks noGrp="1"/>
          </p:cNvSpPr>
          <p:nvPr>
            <p:ph type="title"/>
          </p:nvPr>
        </p:nvSpPr>
        <p:spPr/>
        <p:txBody>
          <a:bodyPr/>
          <a:lstStyle/>
          <a:p>
            <a:r>
              <a:rPr lang="en-US" dirty="0"/>
              <a:t>Filtering</a:t>
            </a:r>
          </a:p>
        </p:txBody>
      </p:sp>
      <p:sp>
        <p:nvSpPr>
          <p:cNvPr id="3" name="Content Placeholder 2">
            <a:extLst>
              <a:ext uri="{FF2B5EF4-FFF2-40B4-BE49-F238E27FC236}">
                <a16:creationId xmlns:a16="http://schemas.microsoft.com/office/drawing/2014/main" id="{690A6699-2FE1-7C47-D233-01A1868AE791}"/>
              </a:ext>
            </a:extLst>
          </p:cNvPr>
          <p:cNvSpPr>
            <a:spLocks noGrp="1"/>
          </p:cNvSpPr>
          <p:nvPr>
            <p:ph idx="1"/>
          </p:nvPr>
        </p:nvSpPr>
        <p:spPr/>
        <p:txBody>
          <a:bodyPr/>
          <a:lstStyle/>
          <a:p>
            <a:r>
              <a:rPr lang="en-US" dirty="0"/>
              <a:t>Due to noisy data and low/non performers we introduced a number of filters for our data to isolate only teams seriously contending for prize award.</a:t>
            </a:r>
          </a:p>
          <a:p>
            <a:r>
              <a:rPr lang="en-US" dirty="0"/>
              <a:t>We restricted our dataset only to those teams that had at least 2 points or reached the median highest ranking of 681. (Sorry Prachi).</a:t>
            </a:r>
          </a:p>
          <a:p>
            <a:r>
              <a:rPr lang="en-US" dirty="0"/>
              <a:t>As points decay over time we will utilize highest ranking and tier as our proxy for experience.  This data is also available publicly so potential team members would be able to view this when making their decision about whether or not to join a team.</a:t>
            </a:r>
          </a:p>
        </p:txBody>
      </p:sp>
    </p:spTree>
    <p:extLst>
      <p:ext uri="{BB962C8B-B14F-4D97-AF65-F5344CB8AC3E}">
        <p14:creationId xmlns:p14="http://schemas.microsoft.com/office/powerpoint/2010/main" val="242735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74D8C-E792-DCD8-E704-8774101DE837}"/>
              </a:ext>
            </a:extLst>
          </p:cNvPr>
          <p:cNvSpPr>
            <a:spLocks noGrp="1"/>
          </p:cNvSpPr>
          <p:nvPr>
            <p:ph type="title"/>
          </p:nvPr>
        </p:nvSpPr>
        <p:spPr/>
        <p:txBody>
          <a:bodyPr/>
          <a:lstStyle/>
          <a:p>
            <a:r>
              <a:rPr lang="en-US" dirty="0"/>
              <a:t>Descriptive Statistics Filtered</a:t>
            </a:r>
          </a:p>
        </p:txBody>
      </p:sp>
      <p:pic>
        <p:nvPicPr>
          <p:cNvPr id="5" name="Content Placeholder 4" descr="A table of statistics with numbers and points&#10;&#10;AI-generated content may be incorrect.">
            <a:extLst>
              <a:ext uri="{FF2B5EF4-FFF2-40B4-BE49-F238E27FC236}">
                <a16:creationId xmlns:a16="http://schemas.microsoft.com/office/drawing/2014/main" id="{7C3BFD95-0B05-E7F0-A766-E89100555D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8374" y="1459680"/>
            <a:ext cx="10841248" cy="3458829"/>
          </a:xfrm>
        </p:spPr>
      </p:pic>
    </p:spTree>
    <p:extLst>
      <p:ext uri="{BB962C8B-B14F-4D97-AF65-F5344CB8AC3E}">
        <p14:creationId xmlns:p14="http://schemas.microsoft.com/office/powerpoint/2010/main" val="176386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DBF44-2DFE-940E-05B0-3F8AFC7A6D94}"/>
              </a:ext>
            </a:extLst>
          </p:cNvPr>
          <p:cNvSpPr>
            <a:spLocks noGrp="1"/>
          </p:cNvSpPr>
          <p:nvPr>
            <p:ph type="title"/>
          </p:nvPr>
        </p:nvSpPr>
        <p:spPr/>
        <p:txBody>
          <a:bodyPr/>
          <a:lstStyle/>
          <a:p>
            <a:endParaRPr lang="en-US" dirty="0"/>
          </a:p>
        </p:txBody>
      </p:sp>
      <p:pic>
        <p:nvPicPr>
          <p:cNvPr id="5" name="Content Placeholder 4" descr="A table with numbers and text&#10;&#10;AI-generated content may be incorrect.">
            <a:extLst>
              <a:ext uri="{FF2B5EF4-FFF2-40B4-BE49-F238E27FC236}">
                <a16:creationId xmlns:a16="http://schemas.microsoft.com/office/drawing/2014/main" id="{FFCDD579-1FBC-59FF-F3E8-C416B75FE6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8772" y="929873"/>
            <a:ext cx="7614456" cy="5563002"/>
          </a:xfrm>
        </p:spPr>
      </p:pic>
    </p:spTree>
    <p:extLst>
      <p:ext uri="{BB962C8B-B14F-4D97-AF65-F5344CB8AC3E}">
        <p14:creationId xmlns:p14="http://schemas.microsoft.com/office/powerpoint/2010/main" val="4237609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able with numbers and text&#10;&#10;AI-generated content may be incorrect.">
            <a:extLst>
              <a:ext uri="{FF2B5EF4-FFF2-40B4-BE49-F238E27FC236}">
                <a16:creationId xmlns:a16="http://schemas.microsoft.com/office/drawing/2014/main" id="{704D62C2-D3DA-2793-0016-4348692E3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8304" y="1032285"/>
            <a:ext cx="7365078" cy="5154101"/>
          </a:xfrm>
          <a:prstGeom prst="rect">
            <a:avLst/>
          </a:prstGeom>
        </p:spPr>
      </p:pic>
    </p:spTree>
    <p:extLst>
      <p:ext uri="{BB962C8B-B14F-4D97-AF65-F5344CB8AC3E}">
        <p14:creationId xmlns:p14="http://schemas.microsoft.com/office/powerpoint/2010/main" val="562935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7E2A2-0079-6129-AAB4-1C544D9524C3}"/>
              </a:ext>
            </a:extLst>
          </p:cNvPr>
          <p:cNvSpPr>
            <a:spLocks noGrp="1"/>
          </p:cNvSpPr>
          <p:nvPr>
            <p:ph type="title"/>
          </p:nvPr>
        </p:nvSpPr>
        <p:spPr/>
        <p:txBody>
          <a:bodyPr/>
          <a:lstStyle/>
          <a:p>
            <a:r>
              <a:rPr lang="en-US" dirty="0" err="1"/>
              <a:t>Teamsize</a:t>
            </a:r>
            <a:r>
              <a:rPr lang="en-US" dirty="0"/>
              <a:t> Filtered</a:t>
            </a:r>
          </a:p>
        </p:txBody>
      </p:sp>
      <p:sp>
        <p:nvSpPr>
          <p:cNvPr id="3" name="Content Placeholder 2">
            <a:extLst>
              <a:ext uri="{FF2B5EF4-FFF2-40B4-BE49-F238E27FC236}">
                <a16:creationId xmlns:a16="http://schemas.microsoft.com/office/drawing/2014/main" id="{ED7D02F4-4C92-6F3E-E90B-50E6BB5EF4E4}"/>
              </a:ext>
            </a:extLst>
          </p:cNvPr>
          <p:cNvSpPr>
            <a:spLocks noGrp="1"/>
          </p:cNvSpPr>
          <p:nvPr>
            <p:ph sz="half" idx="1"/>
          </p:nvPr>
        </p:nvSpPr>
        <p:spPr/>
        <p:txBody>
          <a:bodyPr>
            <a:normAutofit fontScale="85000" lnSpcReduction="10000"/>
          </a:bodyPr>
          <a:lstStyle/>
          <a:p>
            <a:r>
              <a:rPr lang="en-US" dirty="0"/>
              <a:t>After filtering the data there is a much larger percentage of 2+ person teams for high performers.</a:t>
            </a:r>
          </a:p>
          <a:p>
            <a:r>
              <a:rPr lang="en-US" dirty="0"/>
              <a:t>Team submissions are counted for each contest separately so users can choose to join a team in 1 competition as solo, then later join a team and still be preserved.</a:t>
            </a:r>
          </a:p>
          <a:p>
            <a:r>
              <a:rPr lang="en-US" dirty="0"/>
              <a:t>In addition this will be helpful in gathering insight from our MSE on what factors cause team formation and the stickiness of that decision</a:t>
            </a:r>
          </a:p>
          <a:p>
            <a:pPr marL="0" indent="0">
              <a:buNone/>
            </a:pPr>
            <a:endParaRPr lang="en-US" dirty="0"/>
          </a:p>
        </p:txBody>
      </p:sp>
      <p:pic>
        <p:nvPicPr>
          <p:cNvPr id="10" name="Content Placeholder 9" descr="A blue and orange rectangular bars&#10;&#10;AI-generated content may be incorrect.">
            <a:extLst>
              <a:ext uri="{FF2B5EF4-FFF2-40B4-BE49-F238E27FC236}">
                <a16:creationId xmlns:a16="http://schemas.microsoft.com/office/drawing/2014/main" id="{80CB24B7-150D-90E7-B760-BA5B8E51764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150723"/>
            <a:ext cx="5181600" cy="3701142"/>
          </a:xfrm>
        </p:spPr>
      </p:pic>
    </p:spTree>
    <p:extLst>
      <p:ext uri="{BB962C8B-B14F-4D97-AF65-F5344CB8AC3E}">
        <p14:creationId xmlns:p14="http://schemas.microsoft.com/office/powerpoint/2010/main" val="2688010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00A2F-CE83-6012-BBF9-B2E047C84CA8}"/>
              </a:ext>
            </a:extLst>
          </p:cNvPr>
          <p:cNvSpPr>
            <a:spLocks noGrp="1"/>
          </p:cNvSpPr>
          <p:nvPr>
            <p:ph type="title"/>
          </p:nvPr>
        </p:nvSpPr>
        <p:spPr/>
        <p:txBody>
          <a:bodyPr/>
          <a:lstStyle/>
          <a:p>
            <a:r>
              <a:rPr lang="en-US" dirty="0"/>
              <a:t>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3B58607-0C81-4CA2-BBC4-54B3DE0981E5}"/>
                  </a:ext>
                </a:extLst>
              </p:cNvPr>
              <p:cNvSpPr>
                <a:spLocks noGrp="1"/>
              </p:cNvSpPr>
              <p:nvPr>
                <p:ph idx="1"/>
              </p:nvPr>
            </p:nvSpPr>
            <p:spPr/>
            <p:txBody>
              <a:bodyPr>
                <a:normAutofit lnSpcReduction="10000"/>
              </a:bodyPr>
              <a:lstStyle/>
              <a:p>
                <a:r>
                  <a:rPr lang="en-US" dirty="0"/>
                  <a:t>We model the probability that two users </a:t>
                </a:r>
                <a14:m>
                  <m:oMath xmlns:m="http://schemas.openxmlformats.org/officeDocument/2006/math">
                    <m:r>
                      <a:rPr lang="en-US" i="1"/>
                      <m:t>𝑖</m:t>
                    </m:r>
                  </m:oMath>
                </a14:m>
                <a:r>
                  <a:rPr lang="en-US" dirty="0"/>
                  <a:t>and </a:t>
                </a:r>
                <a14:m>
                  <m:oMath xmlns:m="http://schemas.openxmlformats.org/officeDocument/2006/math">
                    <m:r>
                      <a:rPr lang="en-US" i="1"/>
                      <m:t>𝑗</m:t>
                    </m:r>
                  </m:oMath>
                </a14:m>
                <a:r>
                  <a:rPr lang="en-US" dirty="0"/>
                  <a:t>form a team based on their observable similarities:</a:t>
                </a:r>
              </a:p>
              <a:p>
                <a14:m>
                  <m:oMath xmlns:m="http://schemas.openxmlformats.org/officeDocument/2006/math">
                    <m:sSub>
                      <m:sSubPr>
                        <m:ctrlPr>
                          <a:rPr lang="ar-AE"/>
                        </m:ctrlPr>
                      </m:sSubPr>
                      <m:e>
                        <m:r>
                          <a:rPr lang="ar-AE" i="1"/>
                          <m:t>𝑋</m:t>
                        </m:r>
                      </m:e>
                      <m:sub>
                        <m:r>
                          <a:rPr lang="ar-AE" i="1"/>
                          <m:t>𝑖𝑗</m:t>
                        </m:r>
                      </m:sub>
                    </m:sSub>
                    <m:r>
                      <a:rPr lang="ar-AE"/>
                      <m:t>=(∣</m:t>
                    </m:r>
                    <m:sSub>
                      <m:sSubPr>
                        <m:ctrlPr>
                          <a:rPr lang="ar-AE" i="1"/>
                        </m:ctrlPr>
                      </m:sSubPr>
                      <m:e>
                        <m:r>
                          <m:rPr>
                            <m:nor/>
                          </m:rPr>
                          <a:rPr lang="en-US" i="1"/>
                          <m:t>Tier</m:t>
                        </m:r>
                      </m:e>
                      <m:sub>
                        <m:r>
                          <a:rPr lang="ar-AE" i="1"/>
                          <m:t>𝑖</m:t>
                        </m:r>
                      </m:sub>
                    </m:sSub>
                    <m:r>
                      <a:rPr lang="ar-AE"/>
                      <m:t>−</m:t>
                    </m:r>
                    <m:sSub>
                      <m:sSubPr>
                        <m:ctrlPr>
                          <a:rPr lang="ar-AE" i="1"/>
                        </m:ctrlPr>
                      </m:sSubPr>
                      <m:e>
                        <m:r>
                          <m:rPr>
                            <m:nor/>
                          </m:rPr>
                          <a:rPr lang="en-US" i="1"/>
                          <m:t>Tier</m:t>
                        </m:r>
                      </m:e>
                      <m:sub>
                        <m:r>
                          <a:rPr lang="ar-AE" i="1"/>
                          <m:t>𝑗</m:t>
                        </m:r>
                      </m:sub>
                    </m:sSub>
                    <m:r>
                      <a:rPr lang="ar-AE"/>
                      <m:t>∣,</m:t>
                    </m:r>
                    <m:r>
                      <m:rPr>
                        <m:nor/>
                      </m:rPr>
                      <a:rPr lang="ar-AE" i="1"/>
                      <m:t>  </m:t>
                    </m:r>
                    <m:r>
                      <a:rPr lang="ar-AE"/>
                      <m:t>∣</m:t>
                    </m:r>
                    <m:sSub>
                      <m:sSubPr>
                        <m:ctrlPr>
                          <a:rPr lang="ar-AE" i="1"/>
                        </m:ctrlPr>
                      </m:sSubPr>
                      <m:e>
                        <m:r>
                          <m:rPr>
                            <m:nor/>
                          </m:rPr>
                          <a:rPr lang="en-US" i="1"/>
                          <m:t>Rank</m:t>
                        </m:r>
                      </m:e>
                      <m:sub>
                        <m:r>
                          <a:rPr lang="ar-AE" i="1"/>
                          <m:t>𝑖</m:t>
                        </m:r>
                      </m:sub>
                    </m:sSub>
                    <m:r>
                      <a:rPr lang="ar-AE"/>
                      <m:t>−</m:t>
                    </m:r>
                    <m:sSub>
                      <m:sSubPr>
                        <m:ctrlPr>
                          <a:rPr lang="ar-AE" i="1"/>
                        </m:ctrlPr>
                      </m:sSubPr>
                      <m:e>
                        <m:r>
                          <m:rPr>
                            <m:nor/>
                          </m:rPr>
                          <a:rPr lang="en-US" i="1"/>
                          <m:t>Rank</m:t>
                        </m:r>
                      </m:e>
                      <m:sub>
                        <m:r>
                          <a:rPr lang="ar-AE" i="1"/>
                          <m:t>𝑗</m:t>
                        </m:r>
                      </m:sub>
                    </m:sSub>
                    <m:r>
                      <a:rPr lang="ar-AE"/>
                      <m:t>∣,</m:t>
                    </m:r>
                    <m:r>
                      <m:rPr>
                        <m:nor/>
                      </m:rPr>
                      <a:rPr lang="ar-AE" i="1"/>
                      <m:t>  </m:t>
                    </m:r>
                    <m:r>
                      <a:rPr lang="ar-AE" b="1"/>
                      <m:t>𝟏</m:t>
                    </m:r>
                    <m:d>
                      <m:dPr>
                        <m:begChr m:val="{"/>
                        <m:endChr m:val="}"/>
                        <m:ctrlPr>
                          <a:rPr lang="ar-AE" b="1" i="1"/>
                        </m:ctrlPr>
                      </m:dPr>
                      <m:e>
                        <m:sSub>
                          <m:sSubPr>
                            <m:ctrlPr>
                              <a:rPr lang="ar-AE" b="1" i="1"/>
                            </m:ctrlPr>
                          </m:sSubPr>
                          <m:e>
                            <m:r>
                              <m:rPr>
                                <m:nor/>
                              </m:rPr>
                              <a:rPr lang="en-US" i="1"/>
                              <m:t>Country</m:t>
                            </m:r>
                          </m:e>
                          <m:sub>
                            <m:r>
                              <a:rPr lang="ar-AE" i="1"/>
                              <m:t>𝑖</m:t>
                            </m:r>
                          </m:sub>
                        </m:sSub>
                        <m:r>
                          <a:rPr lang="ar-AE"/>
                          <m:t>=</m:t>
                        </m:r>
                        <m:sSub>
                          <m:sSubPr>
                            <m:ctrlPr>
                              <a:rPr lang="ar-AE" i="1"/>
                            </m:ctrlPr>
                          </m:sSubPr>
                          <m:e>
                            <m:r>
                              <m:rPr>
                                <m:nor/>
                              </m:rPr>
                              <a:rPr lang="en-US" i="1"/>
                              <m:t>Country</m:t>
                            </m:r>
                          </m:e>
                          <m:sub>
                            <m:r>
                              <a:rPr lang="ar-AE" i="1"/>
                              <m:t>𝑗</m:t>
                            </m:r>
                          </m:sub>
                        </m:sSub>
                      </m:e>
                    </m:d>
                    <m:r>
                      <a:rPr lang="ar-AE"/>
                      <m:t>,</m:t>
                    </m:r>
                    <m:r>
                      <m:rPr>
                        <m:nor/>
                      </m:rPr>
                      <a:rPr lang="ar-AE" i="1"/>
                      <m:t>  </m:t>
                    </m:r>
                    <m:r>
                      <a:rPr lang="ar-AE" b="1"/>
                      <m:t>𝟏</m:t>
                    </m:r>
                    <m:d>
                      <m:dPr>
                        <m:begChr m:val="{"/>
                        <m:endChr m:val="}"/>
                        <m:ctrlPr>
                          <a:rPr lang="ar-AE" b="1" i="1"/>
                        </m:ctrlPr>
                      </m:dPr>
                      <m:e>
                        <m:sSub>
                          <m:sSubPr>
                            <m:ctrlPr>
                              <a:rPr lang="ar-AE" b="1" i="1"/>
                            </m:ctrlPr>
                          </m:sSubPr>
                          <m:e>
                            <m:r>
                              <m:rPr>
                                <m:nor/>
                              </m:rPr>
                              <a:rPr lang="en-US" i="1"/>
                              <m:t>Organization</m:t>
                            </m:r>
                          </m:e>
                          <m:sub>
                            <m:r>
                              <a:rPr lang="ar-AE" i="1"/>
                              <m:t>𝑖</m:t>
                            </m:r>
                          </m:sub>
                        </m:sSub>
                        <m:r>
                          <a:rPr lang="ar-AE"/>
                          <m:t>=</m:t>
                        </m:r>
                        <m:sSub>
                          <m:sSubPr>
                            <m:ctrlPr>
                              <a:rPr lang="ar-AE" i="1"/>
                            </m:ctrlPr>
                          </m:sSubPr>
                          <m:e>
                            <m:r>
                              <m:rPr>
                                <m:nor/>
                              </m:rPr>
                              <a:rPr lang="en-US" i="1"/>
                              <m:t>Organization</m:t>
                            </m:r>
                          </m:e>
                          <m:sub>
                            <m:r>
                              <a:rPr lang="ar-AE" i="1"/>
                              <m:t>𝑗</m:t>
                            </m:r>
                          </m:sub>
                        </m:sSub>
                      </m:e>
                    </m:d>
                    <m:r>
                      <a:rPr lang="ar-AE"/>
                      <m:t>)</m:t>
                    </m:r>
                  </m:oMath>
                </a14:m>
                <a:endParaRPr lang="ar-AE" b="0" dirty="0"/>
              </a:p>
              <a:p>
                <a:r>
                  <a:rPr lang="en-US" dirty="0"/>
                  <a:t>The latent (unobserved) utility of teaming is:</a:t>
                </a:r>
              </a:p>
              <a:p>
                <a14:m>
                  <m:oMath xmlns:m="http://schemas.openxmlformats.org/officeDocument/2006/math">
                    <m:sSub>
                      <m:sSubPr>
                        <m:ctrlPr>
                          <a:rPr lang="ar-AE"/>
                        </m:ctrlPr>
                      </m:sSubPr>
                      <m:e>
                        <m:r>
                          <a:rPr lang="ar-AE" i="1"/>
                          <m:t>𝑈</m:t>
                        </m:r>
                      </m:e>
                      <m:sub>
                        <m:r>
                          <a:rPr lang="ar-AE" i="1"/>
                          <m:t>𝑖𝑗</m:t>
                        </m:r>
                      </m:sub>
                    </m:sSub>
                    <m:r>
                      <a:rPr lang="ar-AE"/>
                      <m:t>=</m:t>
                    </m:r>
                    <m:sSubSup>
                      <m:sSubSupPr>
                        <m:ctrlPr>
                          <a:rPr lang="ar-AE" i="1"/>
                        </m:ctrlPr>
                      </m:sSubSupPr>
                      <m:e>
                        <m:r>
                          <a:rPr lang="ar-AE" i="1"/>
                          <m:t>𝑋</m:t>
                        </m:r>
                      </m:e>
                      <m:sub>
                        <m:r>
                          <a:rPr lang="ar-AE" i="1"/>
                          <m:t>𝑖𝑗</m:t>
                        </m:r>
                      </m:sub>
                      <m:sup>
                        <m:r>
                          <a:rPr lang="ar-AE"/>
                          <m:t>′</m:t>
                        </m:r>
                      </m:sup>
                    </m:sSubSup>
                    <m:r>
                      <a:rPr lang="ar-AE" i="1"/>
                      <m:t>𝛽</m:t>
                    </m:r>
                    <m:r>
                      <a:rPr lang="ar-AE"/>
                      <m:t>+</m:t>
                    </m:r>
                    <m:sSub>
                      <m:sSubPr>
                        <m:ctrlPr>
                          <a:rPr lang="ar-AE" i="1"/>
                        </m:ctrlPr>
                      </m:sSubPr>
                      <m:e>
                        <m:r>
                          <a:rPr lang="ar-AE" i="1"/>
                          <m:t>𝜀</m:t>
                        </m:r>
                      </m:e>
                      <m:sub>
                        <m:r>
                          <a:rPr lang="ar-AE" i="1"/>
                          <m:t>𝑖𝑗</m:t>
                        </m:r>
                      </m:sub>
                    </m:sSub>
                  </m:oMath>
                </a14:m>
                <a:endParaRPr lang="ar-AE" dirty="0"/>
              </a:p>
              <a:p>
                <a:r>
                  <a:rPr lang="en-US" dirty="0"/>
                  <a:t>Two users form a team if the utility is positive:</a:t>
                </a:r>
              </a:p>
              <a:p>
                <a14:m>
                  <m:oMath xmlns:m="http://schemas.openxmlformats.org/officeDocument/2006/math">
                    <m:sSub>
                      <m:sSubPr>
                        <m:ctrlPr>
                          <a:rPr lang="ar-AE"/>
                        </m:ctrlPr>
                      </m:sSubPr>
                      <m:e>
                        <m:r>
                          <m:rPr>
                            <m:nor/>
                          </m:rPr>
                          <a:rPr lang="en-US" b="0"/>
                          <m:t>Team</m:t>
                        </m:r>
                      </m:e>
                      <m:sub>
                        <m:r>
                          <a:rPr lang="ar-AE" b="0" i="1"/>
                          <m:t>𝑖𝑗</m:t>
                        </m:r>
                      </m:sub>
                    </m:sSub>
                    <m:r>
                      <a:rPr lang="ar-AE"/>
                      <m:t>=</m:t>
                    </m:r>
                    <m:d>
                      <m:dPr>
                        <m:begChr m:val="{"/>
                        <m:endChr m:val=""/>
                        <m:ctrlPr>
                          <a:rPr lang="ar-AE" i="1"/>
                        </m:ctrlPr>
                      </m:dPr>
                      <m:e>
                        <m:m>
                          <m:mPr>
                            <m:plcHide m:val="on"/>
                            <m:mcs>
                              <m:mc>
                                <m:mcPr>
                                  <m:count m:val="2"/>
                                  <m:mcJc m:val="center"/>
                                </m:mcPr>
                              </m:mc>
                            </m:mcs>
                            <m:ctrlPr>
                              <a:rPr lang="ar-AE" i="1"/>
                            </m:ctrlPr>
                          </m:mPr>
                          <m:mr>
                            <m:e>
                              <m:r>
                                <a:rPr lang="ar-AE"/>
                                <m:t>1</m:t>
                              </m:r>
                              <m:r>
                                <a:rPr lang="ar-AE"/>
                                <m:t>,</m:t>
                              </m:r>
                            </m:e>
                            <m:e>
                              <m:r>
                                <m:rPr>
                                  <m:nor/>
                                </m:rPr>
                                <a:rPr lang="en-US" i="1"/>
                                <m:t>if</m:t>
                              </m:r>
                              <m:r>
                                <m:rPr>
                                  <m:nor/>
                                </m:rPr>
                                <a:rPr lang="en-US" i="1"/>
                                <m:t> </m:t>
                              </m:r>
                              <m:sSub>
                                <m:sSubPr>
                                  <m:ctrlPr>
                                    <a:rPr lang="ar-AE" i="1"/>
                                  </m:ctrlPr>
                                </m:sSubPr>
                                <m:e>
                                  <m:r>
                                    <a:rPr lang="ar-AE" i="1"/>
                                    <m:t>𝑈</m:t>
                                  </m:r>
                                </m:e>
                                <m:sub>
                                  <m:r>
                                    <a:rPr lang="ar-AE" i="1"/>
                                    <m:t>𝑖𝑗</m:t>
                                  </m:r>
                                </m:sub>
                              </m:sSub>
                              <m:r>
                                <a:rPr lang="ar-AE"/>
                                <m:t>&gt;</m:t>
                              </m:r>
                              <m:r>
                                <a:rPr lang="ar-AE"/>
                                <m:t>0</m:t>
                              </m:r>
                            </m:e>
                          </m:mr>
                          <m:mr>
                            <m:e>
                              <m:r>
                                <a:rPr lang="ar-AE"/>
                                <m:t>0</m:t>
                              </m:r>
                              <m:r>
                                <a:rPr lang="ar-AE"/>
                                <m:t>,</m:t>
                              </m:r>
                            </m:e>
                            <m:e>
                              <m:r>
                                <m:rPr>
                                  <m:nor/>
                                </m:rPr>
                                <a:rPr lang="en-US" i="1"/>
                                <m:t>otherwise</m:t>
                              </m:r>
                            </m:e>
                          </m:mr>
                        </m:m>
                      </m:e>
                    </m:d>
                  </m:oMath>
                </a14:m>
                <a:endParaRPr lang="ar-AE" b="0" dirty="0"/>
              </a:p>
              <a:p>
                <a:endParaRPr lang="en-US" dirty="0"/>
              </a:p>
            </p:txBody>
          </p:sp>
        </mc:Choice>
        <mc:Fallback>
          <p:sp>
            <p:nvSpPr>
              <p:cNvPr id="3" name="Content Placeholder 2">
                <a:extLst>
                  <a:ext uri="{FF2B5EF4-FFF2-40B4-BE49-F238E27FC236}">
                    <a16:creationId xmlns:a16="http://schemas.microsoft.com/office/drawing/2014/main" id="{83B58607-0C81-4CA2-BBC4-54B3DE0981E5}"/>
                  </a:ext>
                </a:extLst>
              </p:cNvPr>
              <p:cNvSpPr>
                <a:spLocks noGrp="1" noRot="1" noChangeAspect="1" noMove="1" noResize="1" noEditPoints="1" noAdjustHandles="1" noChangeArrowheads="1" noChangeShapeType="1" noTextEdit="1"/>
              </p:cNvSpPr>
              <p:nvPr>
                <p:ph idx="1"/>
              </p:nvPr>
            </p:nvSpPr>
            <p:spPr>
              <a:blipFill>
                <a:blip r:embed="rId2"/>
                <a:stretch>
                  <a:fillRect l="-1043" t="-3081" r="-174"/>
                </a:stretch>
              </a:blipFill>
            </p:spPr>
            <p:txBody>
              <a:bodyPr/>
              <a:lstStyle/>
              <a:p>
                <a:r>
                  <a:rPr lang="en-US">
                    <a:noFill/>
                  </a:rPr>
                  <a:t> </a:t>
                </a:r>
              </a:p>
            </p:txBody>
          </p:sp>
        </mc:Fallback>
      </mc:AlternateContent>
    </p:spTree>
    <p:extLst>
      <p:ext uri="{BB962C8B-B14F-4D97-AF65-F5344CB8AC3E}">
        <p14:creationId xmlns:p14="http://schemas.microsoft.com/office/powerpoint/2010/main" val="763681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37C7F-0EF9-8A75-D79D-3ED9246289F2}"/>
              </a:ext>
            </a:extLst>
          </p:cNvPr>
          <p:cNvSpPr>
            <a:spLocks noGrp="1"/>
          </p:cNvSpPr>
          <p:nvPr>
            <p:ph type="title"/>
          </p:nvPr>
        </p:nvSpPr>
        <p:spPr/>
        <p:txBody>
          <a:bodyPr/>
          <a:lstStyle/>
          <a:p>
            <a:r>
              <a:rPr lang="en-US" dirty="0"/>
              <a:t>Estimation Approach: Maximum Score Estimator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605119-347A-9998-5B6A-9F2DDDE14DCD}"/>
                  </a:ext>
                </a:extLst>
              </p:cNvPr>
              <p:cNvSpPr>
                <a:spLocks noGrp="1"/>
              </p:cNvSpPr>
              <p:nvPr>
                <p:ph idx="1"/>
              </p:nvPr>
            </p:nvSpPr>
            <p:spPr/>
            <p:txBody>
              <a:bodyPr>
                <a:normAutofit fontScale="92500" lnSpcReduction="10000"/>
              </a:bodyPr>
              <a:lstStyle/>
              <a:p>
                <a:r>
                  <a:rPr lang="en-US" dirty="0"/>
                  <a:t>The Maximum Score Estimator finds the coefficient vector </a:t>
                </a:r>
                <a14:m>
                  <m:oMath xmlns:m="http://schemas.openxmlformats.org/officeDocument/2006/math">
                    <m:acc>
                      <m:accPr>
                        <m:chr m:val="̂"/>
                        <m:ctrlPr>
                          <a:rPr lang="ar-AE"/>
                        </m:ctrlPr>
                      </m:accPr>
                      <m:e>
                        <m:r>
                          <a:rPr lang="ar-AE" i="1"/>
                          <m:t>𝛽</m:t>
                        </m:r>
                      </m:e>
                    </m:acc>
                  </m:oMath>
                </a14:m>
                <a:r>
                  <a:rPr lang="en-US" dirty="0"/>
                  <a:t>that maximizes:</a:t>
                </a:r>
              </a:p>
              <a:p>
                <a14:m>
                  <m:oMath xmlns:m="http://schemas.openxmlformats.org/officeDocument/2006/math">
                    <m:r>
                      <a:rPr lang="en-US" i="1"/>
                      <m:t>𝑄</m:t>
                    </m:r>
                    <m:d>
                      <m:dPr>
                        <m:ctrlPr>
                          <a:rPr lang="ar-AE" i="1"/>
                        </m:ctrlPr>
                      </m:dPr>
                      <m:e>
                        <m:r>
                          <a:rPr lang="ar-AE" i="1"/>
                          <m:t>𝛽</m:t>
                        </m:r>
                      </m:e>
                    </m:d>
                    <m:r>
                      <a:rPr lang="ar-AE"/>
                      <m:t>=</m:t>
                    </m:r>
                    <m:nary>
                      <m:naryPr>
                        <m:chr m:val="∑"/>
                        <m:grow m:val="on"/>
                        <m:ctrlPr>
                          <a:rPr lang="ar-AE" i="1"/>
                        </m:ctrlPr>
                      </m:naryPr>
                      <m:sub>
                        <m:r>
                          <a:rPr lang="ar-AE" i="1"/>
                          <m:t>𝑖</m:t>
                        </m:r>
                        <m:r>
                          <a:rPr lang="ar-AE"/>
                          <m:t>=</m:t>
                        </m:r>
                        <m:r>
                          <a:rPr lang="ar-AE"/>
                          <m:t>1</m:t>
                        </m:r>
                      </m:sub>
                      <m:sup>
                        <m:r>
                          <a:rPr lang="ar-AE" i="1"/>
                          <m:t>𝑁</m:t>
                        </m:r>
                      </m:sup>
                      <m:e>
                        <m:r>
                          <a:rPr lang="ar-AE" b="1"/>
                          <m:t>𝟏</m:t>
                        </m:r>
                      </m:e>
                    </m:nary>
                    <m:r>
                      <a:rPr lang="ar-AE"/>
                      <m:t>[</m:t>
                    </m:r>
                    <m:sSub>
                      <m:sSubPr>
                        <m:ctrlPr>
                          <a:rPr lang="ar-AE" i="1"/>
                        </m:ctrlPr>
                      </m:sSubPr>
                      <m:e>
                        <m:r>
                          <a:rPr lang="ar-AE" i="1"/>
                          <m:t>𝑦</m:t>
                        </m:r>
                      </m:e>
                      <m:sub>
                        <m:r>
                          <a:rPr lang="ar-AE" i="1"/>
                          <m:t>𝑖</m:t>
                        </m:r>
                      </m:sub>
                    </m:sSub>
                    <m:d>
                      <m:dPr>
                        <m:ctrlPr>
                          <a:rPr lang="ar-AE" i="1"/>
                        </m:ctrlPr>
                      </m:dPr>
                      <m:e>
                        <m:sSubSup>
                          <m:sSubSupPr>
                            <m:ctrlPr>
                              <a:rPr lang="ar-AE" i="1"/>
                            </m:ctrlPr>
                          </m:sSubSupPr>
                          <m:e>
                            <m:r>
                              <a:rPr lang="ar-AE" i="1"/>
                              <m:t>𝑋</m:t>
                            </m:r>
                          </m:e>
                          <m:sub>
                            <m:r>
                              <a:rPr lang="ar-AE" i="1"/>
                              <m:t>𝑖</m:t>
                            </m:r>
                          </m:sub>
                          <m:sup>
                            <m:r>
                              <a:rPr lang="ar-AE"/>
                              <m:t>′</m:t>
                            </m:r>
                          </m:sup>
                        </m:sSubSup>
                        <m:r>
                          <a:rPr lang="ar-AE" i="1"/>
                          <m:t>𝛽</m:t>
                        </m:r>
                      </m:e>
                    </m:d>
                    <m:r>
                      <a:rPr lang="ar-AE"/>
                      <m:t>&gt;</m:t>
                    </m:r>
                    <m:r>
                      <a:rPr lang="ar-AE"/>
                      <m:t>0</m:t>
                    </m:r>
                    <m:r>
                      <a:rPr lang="ar-AE"/>
                      <m:t>]</m:t>
                    </m:r>
                  </m:oMath>
                </a14:m>
                <a:endParaRPr lang="en-US" dirty="0"/>
              </a:p>
              <a:p>
                <a:r>
                  <a:rPr lang="en-US" dirty="0"/>
                  <a:t>Because this objective is </a:t>
                </a:r>
                <a:r>
                  <a:rPr lang="en-US" i="1" dirty="0"/>
                  <a:t>non-differentiable</a:t>
                </a:r>
                <a:r>
                  <a:rPr lang="en-US" dirty="0"/>
                  <a:t>, we can’t use gradient methods — instead we:</a:t>
                </a:r>
              </a:p>
              <a:p>
                <a:r>
                  <a:rPr lang="en-US" dirty="0"/>
                  <a:t>Randomly search or use a coarse grid over parameter space, we searched over 20,000 dyads</a:t>
                </a:r>
              </a:p>
              <a:p>
                <a:r>
                  <a:rPr lang="en-US" dirty="0"/>
                  <a:t>Find the </a:t>
                </a:r>
                <a:r>
                  <a:rPr lang="el-GR" dirty="0"/>
                  <a:t>β </a:t>
                </a:r>
                <a:r>
                  <a:rPr lang="en-US" dirty="0"/>
                  <a:t>vector that yields the highest score,</a:t>
                </a:r>
              </a:p>
              <a:p>
                <a:r>
                  <a:rPr lang="en-US" dirty="0"/>
                  <a:t>Then approximate standard errors by bootstrapping, we replicated 40 times on 5,000 observations.</a:t>
                </a:r>
              </a:p>
              <a:p>
                <a:pPr marL="0" indent="0">
                  <a:buNone/>
                </a:pPr>
                <a:endParaRPr lang="en-US" dirty="0"/>
              </a:p>
              <a:p>
                <a:endParaRPr lang="en-US" dirty="0"/>
              </a:p>
            </p:txBody>
          </p:sp>
        </mc:Choice>
        <mc:Fallback>
          <p:sp>
            <p:nvSpPr>
              <p:cNvPr id="3" name="Content Placeholder 2">
                <a:extLst>
                  <a:ext uri="{FF2B5EF4-FFF2-40B4-BE49-F238E27FC236}">
                    <a16:creationId xmlns:a16="http://schemas.microsoft.com/office/drawing/2014/main" id="{A9605119-347A-9998-5B6A-9F2DDDE14DCD}"/>
                  </a:ext>
                </a:extLst>
              </p:cNvPr>
              <p:cNvSpPr>
                <a:spLocks noGrp="1" noRot="1" noChangeAspect="1" noMove="1" noResize="1" noEditPoints="1" noAdjustHandles="1" noChangeArrowheads="1" noChangeShapeType="1" noTextEdit="1"/>
              </p:cNvSpPr>
              <p:nvPr>
                <p:ph idx="1"/>
              </p:nvPr>
            </p:nvSpPr>
            <p:spPr>
              <a:blipFill>
                <a:blip r:embed="rId2"/>
                <a:stretch>
                  <a:fillRect l="-928" t="-2521"/>
                </a:stretch>
              </a:blipFill>
            </p:spPr>
            <p:txBody>
              <a:bodyPr/>
              <a:lstStyle/>
              <a:p>
                <a:r>
                  <a:rPr lang="en-US">
                    <a:noFill/>
                  </a:rPr>
                  <a:t> </a:t>
                </a:r>
              </a:p>
            </p:txBody>
          </p:sp>
        </mc:Fallback>
      </mc:AlternateContent>
    </p:spTree>
    <p:extLst>
      <p:ext uri="{BB962C8B-B14F-4D97-AF65-F5344CB8AC3E}">
        <p14:creationId xmlns:p14="http://schemas.microsoft.com/office/powerpoint/2010/main" val="2228437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2772-0065-B3C6-D7E7-7B2063569D1B}"/>
              </a:ext>
            </a:extLst>
          </p:cNvPr>
          <p:cNvSpPr>
            <a:spLocks noGrp="1"/>
          </p:cNvSpPr>
          <p:nvPr>
            <p:ph type="title"/>
          </p:nvPr>
        </p:nvSpPr>
        <p:spPr/>
        <p:txBody>
          <a:bodyPr/>
          <a:lstStyle/>
          <a:p>
            <a:r>
              <a:rPr lang="en-US" dirty="0"/>
              <a:t>Results</a:t>
            </a:r>
          </a:p>
        </p:txBody>
      </p:sp>
      <p:pic>
        <p:nvPicPr>
          <p:cNvPr id="5" name="Content Placeholder 4" descr="A table with numbers and a number on it&#10;&#10;AI-generated content may be incorrect.">
            <a:extLst>
              <a:ext uri="{FF2B5EF4-FFF2-40B4-BE49-F238E27FC236}">
                <a16:creationId xmlns:a16="http://schemas.microsoft.com/office/drawing/2014/main" id="{FA6CCEC2-F674-1149-08B0-513B9857AC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9918" y="1529542"/>
            <a:ext cx="10753882" cy="4836341"/>
          </a:xfrm>
        </p:spPr>
      </p:pic>
    </p:spTree>
    <p:extLst>
      <p:ext uri="{BB962C8B-B14F-4D97-AF65-F5344CB8AC3E}">
        <p14:creationId xmlns:p14="http://schemas.microsoft.com/office/powerpoint/2010/main" val="2776161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CD3D-51CE-A476-C763-FCA6BBEC7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E707E-C014-B739-2ECF-D4DE8CE7250D}"/>
              </a:ext>
            </a:extLst>
          </p:cNvPr>
          <p:cNvSpPr>
            <a:spLocks noGrp="1"/>
          </p:cNvSpPr>
          <p:nvPr>
            <p:ph type="title"/>
          </p:nvPr>
        </p:nvSpPr>
        <p:spPr/>
        <p:txBody>
          <a:bodyPr/>
          <a:lstStyle/>
          <a:p>
            <a:r>
              <a:rPr lang="en-US" dirty="0"/>
              <a:t>Results</a:t>
            </a:r>
          </a:p>
        </p:txBody>
      </p:sp>
      <p:pic>
        <p:nvPicPr>
          <p:cNvPr id="7" name="Content Placeholder 6" descr="A graph of blue squares&#10;&#10;AI-generated content may be incorrect.">
            <a:extLst>
              <a:ext uri="{FF2B5EF4-FFF2-40B4-BE49-F238E27FC236}">
                <a16:creationId xmlns:a16="http://schemas.microsoft.com/office/drawing/2014/main" id="{F83AFD42-0A43-0D1C-11A6-25553A27DF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3411" y="1442429"/>
            <a:ext cx="9326879" cy="5050446"/>
          </a:xfrm>
        </p:spPr>
      </p:pic>
    </p:spTree>
    <p:extLst>
      <p:ext uri="{BB962C8B-B14F-4D97-AF65-F5344CB8AC3E}">
        <p14:creationId xmlns:p14="http://schemas.microsoft.com/office/powerpoint/2010/main" val="3113786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D86A-DB59-2EA8-5E56-F4F4BA04F2E5}"/>
              </a:ext>
            </a:extLst>
          </p:cNvPr>
          <p:cNvSpPr>
            <a:spLocks noGrp="1"/>
          </p:cNvSpPr>
          <p:nvPr>
            <p:ph type="title"/>
          </p:nvPr>
        </p:nvSpPr>
        <p:spPr/>
        <p:txBody>
          <a:bodyPr/>
          <a:lstStyle/>
          <a:p>
            <a:r>
              <a:rPr lang="en-US" dirty="0"/>
              <a:t>Summary / </a:t>
            </a:r>
            <a:r>
              <a:rPr lang="en-US" dirty="0" err="1"/>
              <a:t>Interperetation</a:t>
            </a:r>
            <a:endParaRPr lang="en-US" dirty="0"/>
          </a:p>
        </p:txBody>
      </p:sp>
      <p:sp>
        <p:nvSpPr>
          <p:cNvPr id="3" name="Content Placeholder 2">
            <a:extLst>
              <a:ext uri="{FF2B5EF4-FFF2-40B4-BE49-F238E27FC236}">
                <a16:creationId xmlns:a16="http://schemas.microsoft.com/office/drawing/2014/main" id="{4E4F3F14-B3B7-131A-8097-522B7712504F}"/>
              </a:ext>
            </a:extLst>
          </p:cNvPr>
          <p:cNvSpPr>
            <a:spLocks noGrp="1"/>
          </p:cNvSpPr>
          <p:nvPr>
            <p:ph idx="1"/>
          </p:nvPr>
        </p:nvSpPr>
        <p:spPr/>
        <p:txBody>
          <a:bodyPr/>
          <a:lstStyle/>
          <a:p>
            <a:r>
              <a:rPr lang="en-US" dirty="0"/>
              <a:t>Skill Difference and Country were our largest predictors of team formation.</a:t>
            </a:r>
          </a:p>
          <a:p>
            <a:r>
              <a:rPr lang="en-US" dirty="0"/>
              <a:t>Same Org. had a very large negative coefficient surprisingly, suspect due to the large number of missing observations in the data.</a:t>
            </a:r>
          </a:p>
          <a:p>
            <a:r>
              <a:rPr lang="en-US" dirty="0"/>
              <a:t>Teams most likely to form within Tier</a:t>
            </a:r>
          </a:p>
          <a:p>
            <a:endParaRPr lang="en-US" dirty="0"/>
          </a:p>
        </p:txBody>
      </p:sp>
    </p:spTree>
    <p:extLst>
      <p:ext uri="{BB962C8B-B14F-4D97-AF65-F5344CB8AC3E}">
        <p14:creationId xmlns:p14="http://schemas.microsoft.com/office/powerpoint/2010/main" val="1448051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1147</TotalTime>
  <Words>571</Words>
  <Application>Microsoft Office PowerPoint</Application>
  <PresentationFormat>Widescreen</PresentationFormat>
  <Paragraphs>46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PS 6 Matching Models</vt:lpstr>
      <vt:lpstr>Introduction </vt:lpstr>
      <vt:lpstr>Data</vt:lpstr>
      <vt:lpstr>Descriptive Statistics</vt:lpstr>
      <vt:lpstr>Summary Statistics for Points &amp; Highest Ranking</vt:lpstr>
      <vt:lpstr>Filtering</vt:lpstr>
      <vt:lpstr>Descriptive Statistics Filtered</vt:lpstr>
      <vt:lpstr>PowerPoint Presentation</vt:lpstr>
      <vt:lpstr>PowerPoint Presentation</vt:lpstr>
      <vt:lpstr>Teamsize Filtered</vt:lpstr>
      <vt:lpstr>Model</vt:lpstr>
      <vt:lpstr>Estimation Approach: Maximum Score Estimator</vt:lpstr>
      <vt:lpstr>Results</vt:lpstr>
      <vt:lpstr>Results</vt:lpstr>
      <vt:lpstr>Summary / Interperetation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Munson</dc:creator>
  <cp:lastModifiedBy>Munson, David</cp:lastModifiedBy>
  <cp:revision>2</cp:revision>
  <dcterms:created xsi:type="dcterms:W3CDTF">2025-10-15T19:58:18Z</dcterms:created>
  <dcterms:modified xsi:type="dcterms:W3CDTF">2025-10-16T16:39:37Z</dcterms:modified>
</cp:coreProperties>
</file>